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AI類似図面検索システム</a:t>
            </a:r>
            <a:endParaRPr lang="en-US" sz="3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導入検討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32004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980B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第57期 方針活動 No.5 技術部環境整備 ― DX推進計画③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3017520"/>
            <a:ext cx="3200400" cy="27432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393192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AABBC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新日本金属工業株式会社　技術部 技術課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AABBC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担当：粟野・津田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AABBC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2026年2月度 部署長会議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320040" cy="320040"/>
          </a:xfrm>
          <a:prstGeom prst="ellipse">
            <a:avLst/>
          </a:prstGeom>
          <a:solidFill>
            <a:srgbClr val="2980B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914400" y="2743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A5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現状の課題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229600" cy="36576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3931920" cy="1188720"/>
          </a:xfrm>
          <a:prstGeom prst="rect">
            <a:avLst>
              <a:gd name="adj" fmla="val 7692"/>
            </a:avLst>
          </a:prstGeom>
          <a:solidFill>
            <a:srgbClr val="FEF9F0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97280"/>
            <a:ext cx="54864" cy="118872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1887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7E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課題①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46304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製品種類の増加により図面数が増大し、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目的の図面にたどり着けない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3931920" cy="1188720"/>
          </a:xfrm>
          <a:prstGeom prst="rect">
            <a:avLst>
              <a:gd name="adj" fmla="val 7692"/>
            </a:avLst>
          </a:prstGeom>
          <a:solidFill>
            <a:srgbClr val="FEF9F0"/>
          </a:solidFill>
          <a:ln/>
        </p:spPr>
      </p:sp>
      <p:sp>
        <p:nvSpPr>
          <p:cNvPr id="10" name="Shape 8"/>
          <p:cNvSpPr/>
          <p:nvPr/>
        </p:nvSpPr>
        <p:spPr>
          <a:xfrm>
            <a:off x="4754880" y="1097280"/>
            <a:ext cx="54864" cy="118872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1887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7E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課題②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37760" y="146304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類似製品の検索に時間がかかる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（手作業で過去図面を1枚ずつ確認）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560320"/>
            <a:ext cx="3931920" cy="1188720"/>
          </a:xfrm>
          <a:prstGeom prst="rect">
            <a:avLst>
              <a:gd name="adj" fmla="val 7692"/>
            </a:avLst>
          </a:prstGeom>
          <a:solidFill>
            <a:srgbClr val="FEF9F0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2560320"/>
            <a:ext cx="54864" cy="118872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6517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7E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課題③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292608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過去の対策品・トラブル履歴の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横展開が遅い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54880" y="2560320"/>
            <a:ext cx="3931920" cy="1188720"/>
          </a:xfrm>
          <a:prstGeom prst="rect">
            <a:avLst>
              <a:gd name="adj" fmla="val 7692"/>
            </a:avLst>
          </a:prstGeom>
          <a:solidFill>
            <a:srgbClr val="FEF9F0"/>
          </a:solidFill>
          <a:ln/>
        </p:spPr>
      </p:sp>
      <p:sp>
        <p:nvSpPr>
          <p:cNvPr id="18" name="Shape 16"/>
          <p:cNvSpPr/>
          <p:nvPr/>
        </p:nvSpPr>
        <p:spPr>
          <a:xfrm>
            <a:off x="4754880" y="2560320"/>
            <a:ext cx="54864" cy="118872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9" name="Text 17"/>
          <p:cNvSpPr/>
          <p:nvPr/>
        </p:nvSpPr>
        <p:spPr>
          <a:xfrm>
            <a:off x="4937760" y="26517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7E22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課題④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37760" y="292608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検索ノウハウが設計者の経験値に依存し、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無駄な再設計が発生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1371600" y="4206240"/>
            <a:ext cx="6400800" cy="640080"/>
          </a:xfrm>
          <a:prstGeom prst="roundRect">
            <a:avLst>
              <a:gd name="adj" fmla="val 14286"/>
            </a:avLst>
          </a:prstGeom>
          <a:solidFill>
            <a:srgbClr val="E74C3C"/>
          </a:solidFill>
          <a:ln/>
        </p:spPr>
      </p:sp>
      <p:sp>
        <p:nvSpPr>
          <p:cNvPr id="22" name="Text 20"/>
          <p:cNvSpPr/>
          <p:nvPr/>
        </p:nvSpPr>
        <p:spPr>
          <a:xfrm>
            <a:off x="1371600" y="420624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本質的課題：「過去の設計資産が活かせていない」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320040" cy="320040"/>
          </a:xfrm>
          <a:prstGeom prst="ellipse">
            <a:avLst/>
          </a:prstGeom>
          <a:solidFill>
            <a:srgbClr val="2980B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914400" y="2743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A5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目指す姿（To-Be）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229600" cy="36576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3931920" cy="1371600"/>
          </a:xfrm>
          <a:prstGeom prst="rect">
            <a:avLst>
              <a:gd name="adj" fmla="val 6667"/>
            </a:avLst>
          </a:prstGeom>
          <a:solidFill>
            <a:srgbClr val="EAF6FF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97280"/>
            <a:ext cx="54864" cy="137160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2344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980B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画像アップロードで即検索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60020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図面画像をアップロードするだけで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類似図面を自動抽出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3931920" cy="1371600"/>
          </a:xfrm>
          <a:prstGeom prst="rect">
            <a:avLst>
              <a:gd name="adj" fmla="val 6667"/>
            </a:avLst>
          </a:prstGeom>
          <a:solidFill>
            <a:srgbClr val="EAF6FF"/>
          </a:solidFill>
          <a:ln/>
        </p:spPr>
      </p:sp>
      <p:sp>
        <p:nvSpPr>
          <p:cNvPr id="10" name="Shape 8"/>
          <p:cNvSpPr/>
          <p:nvPr/>
        </p:nvSpPr>
        <p:spPr>
          <a:xfrm>
            <a:off x="4754880" y="1097280"/>
            <a:ext cx="54864" cy="137160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2344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980B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テキスト＋形状のハイブリッド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37760" y="160020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テキスト検索＋形状AI検索の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併用で高精度マッチング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743200"/>
            <a:ext cx="3931920" cy="1371600"/>
          </a:xfrm>
          <a:prstGeom prst="rect">
            <a:avLst>
              <a:gd name="adj" fmla="val 6667"/>
            </a:avLst>
          </a:prstGeom>
          <a:solidFill>
            <a:srgbClr val="EAF6FF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2743200"/>
            <a:ext cx="54864" cy="137160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8803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980B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トラブル履歴と紐付け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324612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過去のトラブル対策履歴と紐付け、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再発防止を即時化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54880" y="2743200"/>
            <a:ext cx="3931920" cy="1371600"/>
          </a:xfrm>
          <a:prstGeom prst="rect">
            <a:avLst>
              <a:gd name="adj" fmla="val 6667"/>
            </a:avLst>
          </a:prstGeom>
          <a:solidFill>
            <a:srgbClr val="EAF6FF"/>
          </a:solidFill>
          <a:ln/>
        </p:spPr>
      </p:sp>
      <p:sp>
        <p:nvSpPr>
          <p:cNvPr id="18" name="Shape 16"/>
          <p:cNvSpPr/>
          <p:nvPr/>
        </p:nvSpPr>
        <p:spPr>
          <a:xfrm>
            <a:off x="4754880" y="2743200"/>
            <a:ext cx="54864" cy="137160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19" name="Text 17"/>
          <p:cNvSpPr/>
          <p:nvPr/>
        </p:nvSpPr>
        <p:spPr>
          <a:xfrm>
            <a:off x="4937760" y="28803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980B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設計横展開の即時化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937760" y="324612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無駄な再設計をゼロへ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過去資産を最大限に活用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320040" cy="320040"/>
          </a:xfrm>
          <a:prstGeom prst="ellipse">
            <a:avLst/>
          </a:prstGeom>
          <a:solidFill>
            <a:srgbClr val="2980B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914400" y="27432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A5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システム機能と解決できる問題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229600" cy="36576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51560"/>
            <a:ext cx="1554480" cy="411480"/>
          </a:xfrm>
          <a:prstGeom prst="roundRect">
            <a:avLst>
              <a:gd name="adj" fmla="val 44444"/>
            </a:avLst>
          </a:prstGeom>
          <a:solidFill>
            <a:srgbClr val="2980B9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5156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図面データを画像解析（AI）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148840" y="1051560"/>
            <a:ext cx="1554480" cy="411480"/>
          </a:xfrm>
          <a:prstGeom prst="roundRect">
            <a:avLst>
              <a:gd name="adj" fmla="val 44444"/>
            </a:avLst>
          </a:prstGeom>
          <a:solidFill>
            <a:srgbClr val="2980B9"/>
          </a:solidFill>
          <a:ln/>
        </p:spPr>
      </p:sp>
      <p:sp>
        <p:nvSpPr>
          <p:cNvPr id="8" name="Text 6"/>
          <p:cNvSpPr/>
          <p:nvPr/>
        </p:nvSpPr>
        <p:spPr>
          <a:xfrm>
            <a:off x="2148840" y="105156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形状類似度を自動判定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840480" y="1051560"/>
            <a:ext cx="1554480" cy="411480"/>
          </a:xfrm>
          <a:prstGeom prst="roundRect">
            <a:avLst>
              <a:gd name="adj" fmla="val 44444"/>
            </a:avLst>
          </a:prstGeom>
          <a:solidFill>
            <a:srgbClr val="2980B9"/>
          </a:solidFill>
          <a:ln/>
        </p:spPr>
      </p:sp>
      <p:sp>
        <p:nvSpPr>
          <p:cNvPr id="10" name="Text 8"/>
          <p:cNvSpPr/>
          <p:nvPr/>
        </p:nvSpPr>
        <p:spPr>
          <a:xfrm>
            <a:off x="3840480" y="105156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図面ファイル出力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532120" y="1051560"/>
            <a:ext cx="1554480" cy="411480"/>
          </a:xfrm>
          <a:prstGeom prst="roundRect">
            <a:avLst>
              <a:gd name="adj" fmla="val 44444"/>
            </a:avLst>
          </a:prstGeom>
          <a:solidFill>
            <a:srgbClr val="2980B9"/>
          </a:solidFill>
          <a:ln/>
        </p:spPr>
      </p:sp>
      <p:sp>
        <p:nvSpPr>
          <p:cNvPr id="12" name="Text 10"/>
          <p:cNvSpPr/>
          <p:nvPr/>
        </p:nvSpPr>
        <p:spPr>
          <a:xfrm>
            <a:off x="5532120" y="105156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テキスト検索対応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223760" y="1051560"/>
            <a:ext cx="1554480" cy="411480"/>
          </a:xfrm>
          <a:prstGeom prst="roundRect">
            <a:avLst>
              <a:gd name="adj" fmla="val 44444"/>
            </a:avLst>
          </a:prstGeom>
          <a:solidFill>
            <a:srgbClr val="2980B9"/>
          </a:solidFill>
          <a:ln/>
        </p:spPr>
      </p:sp>
      <p:sp>
        <p:nvSpPr>
          <p:cNvPr id="14" name="Text 12"/>
          <p:cNvSpPr/>
          <p:nvPr/>
        </p:nvSpPr>
        <p:spPr>
          <a:xfrm>
            <a:off x="7223760" y="105156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付帯情報入力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1737360"/>
            <a:ext cx="8229600" cy="45720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17373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現状の課題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931920" y="17373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212080" y="17373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導入後の解決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2194560"/>
            <a:ext cx="8229600" cy="5029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219456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類似図面の検索が困難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931920" y="219456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980B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394960" y="219456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形状AIで瞬時に検索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2743200"/>
            <a:ext cx="822960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274320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横展開の遅延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931920" y="274320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980B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→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5394960" y="274320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類似事例を即時抽出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57200" y="3291840"/>
            <a:ext cx="8229600" cy="5029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329184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設計者の経験値に依存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931920" y="329184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980B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→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5394960" y="329184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データベース化で属人性を排除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57200" y="3840480"/>
            <a:ext cx="822960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" y="384048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無駄な再設計が発生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931920" y="384048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980B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→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5394960" y="384048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過去図面の流用を促進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320040" cy="320040"/>
          </a:xfrm>
          <a:prstGeom prst="ellipse">
            <a:avLst/>
          </a:prstGeom>
          <a:solidFill>
            <a:srgbClr val="2980B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914400" y="2743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A5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DX実行ステップ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229600" cy="36576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51560"/>
            <a:ext cx="1920240" cy="2743200"/>
          </a:xfrm>
          <a:prstGeom prst="roundRect">
            <a:avLst>
              <a:gd name="adj" fmla="val 5714"/>
            </a:avLst>
          </a:prstGeom>
          <a:solidFill>
            <a:srgbClr val="EAF6FF"/>
          </a:solidFill>
          <a:ln w="25400">
            <a:solidFill>
              <a:srgbClr val="2980B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188720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E74C3C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1887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STEP 1（現在）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15544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3A5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デモ実施済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94360" y="1965960"/>
            <a:ext cx="1645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・システム部 後藤本部長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・技術 橋爪部長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・後藤にて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デモンストレーション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トライアル実施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32918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980B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3/19 完了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606040" y="1051560"/>
            <a:ext cx="1920240" cy="2743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25400">
            <a:solidFill>
              <a:srgbClr val="D5E4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017520" y="1188720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2980B9"/>
          </a:solidFill>
          <a:ln/>
        </p:spPr>
      </p:sp>
      <p:sp>
        <p:nvSpPr>
          <p:cNvPr id="13" name="Text 11"/>
          <p:cNvSpPr/>
          <p:nvPr/>
        </p:nvSpPr>
        <p:spPr>
          <a:xfrm>
            <a:off x="3017520" y="11887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STEP 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743200" y="15544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3A5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稟議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743200" y="1965960"/>
            <a:ext cx="1645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・導入稟議の提出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・投資対効果の算出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・承認取得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743200" y="32918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980B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4月中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1051560"/>
            <a:ext cx="1920240" cy="2743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25400">
            <a:solidFill>
              <a:srgbClr val="D5E4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166360" y="1188720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2980B9"/>
          </a:solidFill>
          <a:ln/>
        </p:spPr>
      </p:sp>
      <p:sp>
        <p:nvSpPr>
          <p:cNvPr id="19" name="Text 17"/>
          <p:cNvSpPr/>
          <p:nvPr/>
        </p:nvSpPr>
        <p:spPr>
          <a:xfrm>
            <a:off x="5166360" y="11887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STEP 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92040" y="15544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3A5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環境準備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892040" y="1965960"/>
            <a:ext cx="1645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・サーバー準備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・システム会社にて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全図面データを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  AIに学習・読取り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92040" y="32918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980B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5月中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903720" y="1051560"/>
            <a:ext cx="1920240" cy="2743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25400">
            <a:solidFill>
              <a:srgbClr val="D5E4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15200" y="1188720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2980B9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0" y="11887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STEP 4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040880" y="15544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3A5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実装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040880" y="1965960"/>
            <a:ext cx="1645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・本番環境への実装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・全図面の登録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・運用開始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040880" y="32918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980B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6月〜7月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397764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E8F8F0"/>
          </a:solidFill>
          <a:ln w="25400">
            <a:solidFill>
              <a:srgbClr val="27AE6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39776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3/19 デモンストレーショントライアル実施済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40080" y="42976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✔ システム部 後藤本部長・技術 橋爪部長・後藤にてデモ実施　　✔ 4月中に稟議 → 5月サーバー準備・AI学習 → 6〜7月実装予定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320040" cy="320040"/>
          </a:xfrm>
          <a:prstGeom prst="ellipse">
            <a:avLst/>
          </a:prstGeom>
          <a:solidFill>
            <a:srgbClr val="2980B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914400" y="2743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A5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費用対効果（想定）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229600" cy="36576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3200400" cy="256032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25400">
            <a:solidFill>
              <a:srgbClr val="D5E4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801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現状の検索コスト（年間）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3A5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300万円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57200" y="246888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7F8C8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設計者5名 × 月10時間 × 12ヶ月</a:t>
            </a:r>
            <a:endParaRPr lang="en-US" sz="11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7F8C8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= 年間600時間 × 時給5,000円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0" y="182880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980B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→</a:t>
            </a:r>
            <a:endParaRPr lang="en-US" sz="4000" dirty="0"/>
          </a:p>
        </p:txBody>
      </p:sp>
      <p:sp>
        <p:nvSpPr>
          <p:cNvPr id="10" name="Shape 8"/>
          <p:cNvSpPr/>
          <p:nvPr/>
        </p:nvSpPr>
        <p:spPr>
          <a:xfrm>
            <a:off x="5486400" y="1188720"/>
            <a:ext cx="3200400" cy="2560320"/>
          </a:xfrm>
          <a:prstGeom prst="roundRect">
            <a:avLst>
              <a:gd name="adj" fmla="val 4286"/>
            </a:avLst>
          </a:prstGeom>
          <a:solidFill>
            <a:srgbClr val="2980B9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0" y="12801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CCE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50%削減で見込める年間効果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0" y="173736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150万円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5486400" y="246888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AACCE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導入費用次第でROI成立可能</a:t>
            </a:r>
            <a:endParaRPr lang="en-US" sz="11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AACCE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＋品質向上・横展開加速の副次効果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402336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EAF6FF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4023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A5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3/19 デモ実施済 → 4月中に稟議提出 → 5月サーバー準備・AI学習 → 6〜7月 実装予定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第57期 方針活動 No.5 AI類似図面検索システム導入検討</dc:subject>
  <dc:creator>技術部 技術課</dc:creator>
  <cp:lastModifiedBy>技術部 技術課</cp:lastModifiedBy>
  <cp:revision>1</cp:revision>
  <dcterms:created xsi:type="dcterms:W3CDTF">2026-03-24T06:50:20Z</dcterms:created>
  <dcterms:modified xsi:type="dcterms:W3CDTF">2026-03-24T06:50:20Z</dcterms:modified>
</cp:coreProperties>
</file>