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熱処理品ブリスター低減活動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第57期 方針活動 No.4 初期流動不良低減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3200400" cy="27432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017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BC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対象：シマノ製品 T6（アッパーブラケット）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ABBC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新日本金属工業株式会社　技術部 技術課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ABBC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担当：後藤・西川・若山・山北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ABBC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2026年2月度 部署長会議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" cy="320040"/>
          </a:xfrm>
          <a:prstGeom prst="ellipse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活動の背景と目標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3840480" cy="1554480"/>
          </a:xfrm>
          <a:prstGeom prst="roundRect">
            <a:avLst>
              <a:gd name="adj" fmla="val 5882"/>
            </a:avLst>
          </a:prstGeom>
          <a:solidFill>
            <a:srgbClr val="FEF9F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15544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515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背景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・シマノ製品T6熱処理品で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ブリスター（膨れ）不良が発生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・アッパーブラケットの複数箇所で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湯じわ・ブリスターを確認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3840480" cy="1554480"/>
          </a:xfrm>
          <a:prstGeom prst="roundRect">
            <a:avLst>
              <a:gd name="adj" fmla="val 5882"/>
            </a:avLst>
          </a:prstGeom>
          <a:solidFill>
            <a:srgbClr val="EAF6FF"/>
          </a:solidFill>
          <a:ln/>
        </p:spPr>
      </p:sp>
      <p:sp>
        <p:nvSpPr>
          <p:cNvPr id="10" name="Shape 8"/>
          <p:cNvSpPr/>
          <p:nvPr/>
        </p:nvSpPr>
        <p:spPr>
          <a:xfrm>
            <a:off x="4846320" y="1005840"/>
            <a:ext cx="54864" cy="155448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515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目標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13258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・初期流動不良率 3%以下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・発生率調査と部位傾向調査を実施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・素材形状の最適化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・流動解析による金型方案の最適化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10〜1月の達成度推移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91440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D5E4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8152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10月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31012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防振 100%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5204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T6 100%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508760" y="3063240"/>
            <a:ext cx="91440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D5E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08760" y="308152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11月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08760" y="331012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防振 100%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08760" y="35204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7E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T6 50%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60320" y="3063240"/>
            <a:ext cx="91440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D5E4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0" y="308152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12月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60320" y="331012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防振 100%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60320" y="35204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T6 —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11880" y="3063240"/>
            <a:ext cx="91440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D5E4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308152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1月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11880" y="331012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防振 100%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11880" y="35204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T6 100%</a:t>
            </a:r>
            <a:endParaRPr lang="en-US" sz="900" dirty="0"/>
          </a:p>
        </p:txBody>
      </p:sp>
      <p:pic>
        <p:nvPicPr>
          <p:cNvPr id="30" name="Image 0" descr="C:\Users\matsuoka\Desktop\ai-agent\03_clients\SNK\部署長会議\images\image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2697480"/>
            <a:ext cx="3840480" cy="192024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4846320" y="46177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製品評価項目（硬度・組織・X線・成分）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" cy="320040"/>
          </a:xfrm>
          <a:prstGeom prst="ellipse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アッパーブラケット 不良箇所まとめ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980B9"/>
          </a:solidFill>
          <a:ln/>
        </p:spPr>
      </p:sp>
      <p:pic>
        <p:nvPicPr>
          <p:cNvPr id="5" name="Image 0" descr="C:\Users\matsuoka\Desktop\ai-agent\03_clients\SNK\部署長会議\images\image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60120"/>
            <a:ext cx="4114800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4348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上面図：不良発生箇所（ピンク部）</a:t>
            </a:r>
            <a:endParaRPr lang="en-US" sz="900" dirty="0"/>
          </a:p>
        </p:txBody>
      </p:sp>
      <p:pic>
        <p:nvPicPr>
          <p:cNvPr id="7" name="Image 1" descr="C:\Users\matsuoka\Desktop\ai-agent\03_clients\SNK\部署長会議\images\image3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960120"/>
            <a:ext cx="1920240" cy="15087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675120" y="960120"/>
            <a:ext cx="2103120" cy="1508760"/>
          </a:xfrm>
          <a:prstGeom prst="roundRect">
            <a:avLst>
              <a:gd name="adj" fmla="val 4848"/>
            </a:avLst>
          </a:prstGeom>
          <a:solidFill>
            <a:srgbClr val="FEF9F0"/>
          </a:solidFill>
          <a:ln/>
        </p:spPr>
      </p:sp>
      <p:sp>
        <p:nvSpPr>
          <p:cNvPr id="9" name="Text 5"/>
          <p:cNvSpPr/>
          <p:nvPr/>
        </p:nvSpPr>
        <p:spPr>
          <a:xfrm>
            <a:off x="6766560" y="10058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⑧⑨ 天側 足部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766560" y="128016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・湯じわ発生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・ブリスター発生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 駒割りによる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ガス抜きを検討</a:t>
            </a:r>
            <a:endParaRPr lang="en-US" sz="1000" dirty="0"/>
          </a:p>
        </p:txBody>
      </p:sp>
      <p:pic>
        <p:nvPicPr>
          <p:cNvPr id="11" name="Image 2" descr="C:\Users\matsuoka\Desktop\ai-agent\03_clients\SNK\部署長会議\images\image3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606040"/>
            <a:ext cx="1920240" cy="86868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675120" y="260604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EAF6FF"/>
          </a:solidFill>
          <a:ln/>
        </p:spPr>
      </p:sp>
      <p:sp>
        <p:nvSpPr>
          <p:cNvPr id="13" name="Text 8"/>
          <p:cNvSpPr/>
          <p:nvPr/>
        </p:nvSpPr>
        <p:spPr>
          <a:xfrm>
            <a:off x="6766560" y="26517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全体側面図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6766560" y="28803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複数箇所で不良確認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 部位別に対策実施</a:t>
            </a:r>
            <a:endParaRPr lang="en-US" sz="1000" dirty="0"/>
          </a:p>
        </p:txBody>
      </p:sp>
      <p:pic>
        <p:nvPicPr>
          <p:cNvPr id="15" name="Image 3" descr="C:\Users\matsuoka\Desktop\ai-agent\03_clients\SNK\部署長会議\images\image3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611880"/>
            <a:ext cx="1920240" cy="105156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675120" y="361188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DEDEC"/>
          </a:solidFill>
          <a:ln/>
        </p:spPr>
      </p:sp>
      <p:sp>
        <p:nvSpPr>
          <p:cNvPr id="17" name="Text 11"/>
          <p:cNvSpPr/>
          <p:nvPr/>
        </p:nvSpPr>
        <p:spPr>
          <a:xfrm>
            <a:off x="6766560" y="36576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⑩ ゲート周辺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6766560" y="391363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・湯じわ発生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 デポをあてて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湯流れ改善（暫定）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" cy="320040"/>
          </a:xfrm>
          <a:prstGeom prst="ellipse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対策検討案（5項目）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8F8F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60120"/>
            <a:ext cx="54864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042416"/>
            <a:ext cx="329184" cy="32918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424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97840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⑩箇所の湯じわ → デポをあてて湯流れ改善（暫定処置）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0" y="105156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0" y="10515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暫定対応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544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AF6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554480"/>
            <a:ext cx="54864" cy="5029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1636776"/>
            <a:ext cx="329184" cy="329184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6367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157276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⑧⑨ 天側足部の湯じわ・ブリスター → 駒割りによるガス抜きを検討中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98080" y="164592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0" y="164592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検討中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1488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8F8F0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148840"/>
            <a:ext cx="54864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2231136"/>
            <a:ext cx="329184" cy="32918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2311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216712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メインゲート幅を広くする改善を実施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98080" y="224028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0" y="224028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実施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7432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EF9F0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2743200"/>
            <a:ext cx="54864" cy="5029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" y="2825496"/>
            <a:ext cx="329184" cy="32918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28254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97280" y="276148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溶体化温度を下げて硬度変化とブリスター変化のTRYを実施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498080" y="283464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32" name="Text 30"/>
          <p:cNvSpPr/>
          <p:nvPr/>
        </p:nvSpPr>
        <p:spPr>
          <a:xfrm>
            <a:off x="7498080" y="283464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3月末〜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33756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EF9F0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3337560"/>
            <a:ext cx="54864" cy="5029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5" name="Shape 33"/>
          <p:cNvSpPr/>
          <p:nvPr/>
        </p:nvSpPr>
        <p:spPr>
          <a:xfrm>
            <a:off x="640080" y="3419856"/>
            <a:ext cx="329184" cy="32918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34198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97280" y="335584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熱処理網の入れ方を再検討し、トライアルパターンを決めて実施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498080" y="342900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39" name="Text 37"/>
          <p:cNvSpPr/>
          <p:nvPr/>
        </p:nvSpPr>
        <p:spPr>
          <a:xfrm>
            <a:off x="7498080" y="342900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3月末〜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06908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E74C3C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069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3/23〜3/25　改善確認トライ実施 → 対策【3】【4】【5】の効果を一括検証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" cy="320040"/>
          </a:xfrm>
          <a:prstGeom prst="ellipse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改善確認トライ（3/23〜25）検証項目と担当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EAF6FF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硬度分布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96012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EAF6FF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9875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97480" y="123444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溶体化温度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2パターン比較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EAF6FF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9875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23444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ブリスター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発生有無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03720" y="96012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EAF6FF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9875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④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95160" y="123444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変形量の計測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1965960"/>
            <a:ext cx="8229600" cy="34747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196596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タスク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19659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担当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0" y="19659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期限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313432"/>
            <a:ext cx="8229600" cy="2926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31343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 溶体化温度（SNK基準）調査→課員配布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23134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粟野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0" y="23134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3/25 済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606040"/>
            <a:ext cx="822960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26060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 成分分析（Mg量確認・補充調整）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26060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山田→品管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58000" y="26060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3/23 AM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2898648"/>
            <a:ext cx="8229600" cy="2926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289864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 UPPER 熱処理前（シム挟みN=30）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289864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若山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58000" y="28986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3/28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191256"/>
            <a:ext cx="822960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319125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 UPPER 熱処理後（対角シム変形確認）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46320" y="319125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若山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58000" y="31912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4/1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3483864"/>
            <a:ext cx="8229600" cy="2926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348386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④ LOWER NG返却品 段差測定（各10個）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46320" y="34838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山北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858000" y="348386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4/4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3776472"/>
            <a:ext cx="822960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377647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④ LOWER X線調査（同ロット）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46320" y="377647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山北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858000" y="37764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4/7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4069080"/>
            <a:ext cx="8229600" cy="2926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406908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④ LOWER 新規打ち 熱処理後（各15個）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46320" y="40690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山北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858000" y="40690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4/11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" y="4361688"/>
            <a:ext cx="822960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548640" y="436168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⑤ 着座NG仕分け保管・発生数管理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46320" y="436168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横山→春近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858000" y="43616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4/15〜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7200" y="425196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EF9F0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補足：溶体化温度を下げても硬度が出るよう、事前にMg量を確認・補充してから鋳造する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" cy="320040"/>
          </a:xfrm>
          <a:prstGeom prst="ellipse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今後のスケジュール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1920240" cy="2194560"/>
          </a:xfrm>
          <a:prstGeom prst="roundRect">
            <a:avLst>
              <a:gd name="adj" fmla="val 4762"/>
            </a:avLst>
          </a:prstGeom>
          <a:solidFill>
            <a:srgbClr val="FDEDEC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078992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789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3/23〜25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改善確認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トライ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ゲート幅拡大品で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熱処理トライ実施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溶体化温度2パターン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960120"/>
            <a:ext cx="1920240" cy="2194560"/>
          </a:xfrm>
          <a:prstGeom prst="roundRect">
            <a:avLst>
              <a:gd name="adj" fmla="val 4762"/>
            </a:avLst>
          </a:prstGeom>
          <a:solidFill>
            <a:srgbClr val="EAF6FF"/>
          </a:solidFill>
          <a:ln w="25400">
            <a:solidFill>
              <a:srgbClr val="D5E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1078992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12" name="Text 10"/>
          <p:cNvSpPr/>
          <p:nvPr/>
        </p:nvSpPr>
        <p:spPr>
          <a:xfrm>
            <a:off x="2880360" y="10789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3/25〜4/1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97480" y="14173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UPPER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調査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97480" y="19202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熱処理前後の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シム挟み・変形確認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N=30で検証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960120"/>
            <a:ext cx="1920240" cy="2194560"/>
          </a:xfrm>
          <a:prstGeom prst="roundRect">
            <a:avLst>
              <a:gd name="adj" fmla="val 4762"/>
            </a:avLst>
          </a:prstGeom>
          <a:solidFill>
            <a:srgbClr val="EAF6FF"/>
          </a:solidFill>
          <a:ln w="25400">
            <a:solidFill>
              <a:srgbClr val="D5E4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0" y="1078992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10789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4/4〜4/11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14173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LOWER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調査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19202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NG返却品 段差測定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X線調査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新規打ち確認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03720" y="960120"/>
            <a:ext cx="1920240" cy="2194560"/>
          </a:xfrm>
          <a:prstGeom prst="roundRect">
            <a:avLst>
              <a:gd name="adj" fmla="val 4762"/>
            </a:avLst>
          </a:prstGeom>
          <a:solidFill>
            <a:srgbClr val="EAF6FF"/>
          </a:solidFill>
          <a:ln w="25400">
            <a:solidFill>
              <a:srgbClr val="D5E4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78040" y="1078992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22" name="Text 20"/>
          <p:cNvSpPr/>
          <p:nvPr/>
        </p:nvSpPr>
        <p:spPr>
          <a:xfrm>
            <a:off x="7178040" y="10789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4/15〜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95160" y="14173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着座NG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調査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95160" y="19202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春近さんへ依頼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NG仕分け保管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発生数の管理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33756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F0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383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ポイント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36576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・溶体化温度を下げても硬度が出るよう、事前にMg量を確認・補充してから鋳造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・熱処理前後の変形量・ブリスター発生有無を定量的に比較し、最適条件を検証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・UPPER / LOWER それぞれで調査を進め、4月中に全体の方向性を確定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第57期 方針活動 No.4 初期流動不良低減</dc:subject>
  <dc:creator>技術部 技術課</dc:creator>
  <cp:lastModifiedBy>技術部 技術課</cp:lastModifiedBy>
  <cp:revision>1</cp:revision>
  <dcterms:created xsi:type="dcterms:W3CDTF">2026-03-24T07:50:40Z</dcterms:created>
  <dcterms:modified xsi:type="dcterms:W3CDTF">2026-03-24T07:50:40Z</dcterms:modified>
</cp:coreProperties>
</file>