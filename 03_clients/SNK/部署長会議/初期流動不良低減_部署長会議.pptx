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熱処理品ブリスター低減活動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第57期 方針活動 No.4 初期流動不良低減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2423160"/>
            <a:ext cx="3200400" cy="27432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108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BBC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対象：シマノ製品 T6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ABBC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新日本金属工業株式会社　技術部 技術課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ABBC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担当：後藤・西川・若山・山北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ABBC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2026年2月度 部署長会議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20040" cy="320040"/>
          </a:xfrm>
          <a:prstGeom prst="ellipse">
            <a:avLst/>
          </a:prstGeom>
          <a:solidFill>
            <a:srgbClr val="2980B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活動の背景と目標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3840480" cy="1828800"/>
          </a:xfrm>
          <a:prstGeom prst="roundRect">
            <a:avLst>
              <a:gd name="adj" fmla="val 5000"/>
            </a:avLst>
          </a:prstGeom>
          <a:solidFill>
            <a:srgbClr val="FEF9F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51560"/>
            <a:ext cx="54864" cy="18288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430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背景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・シマノ製品T6熱処理品で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ブリスター（膨れ）不良が発生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・アッパーブラケットの複数箇所で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湯じわ・ブリスターが確認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・不良率の低減が急務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051560"/>
            <a:ext cx="3840480" cy="1828800"/>
          </a:xfrm>
          <a:prstGeom prst="roundRect">
            <a:avLst>
              <a:gd name="adj" fmla="val 5000"/>
            </a:avLst>
          </a:prstGeom>
          <a:solidFill>
            <a:srgbClr val="EAF6FF"/>
          </a:solidFill>
          <a:ln/>
        </p:spPr>
      </p:sp>
      <p:sp>
        <p:nvSpPr>
          <p:cNvPr id="10" name="Shape 8"/>
          <p:cNvSpPr/>
          <p:nvPr/>
        </p:nvSpPr>
        <p:spPr>
          <a:xfrm>
            <a:off x="4846320" y="1051560"/>
            <a:ext cx="54864" cy="182880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1430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目標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146304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・初期流動不良率 3%以下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・発生率調査と部位傾向調査を実施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・素材形状の最適化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・流動解析による金型方案の最適化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108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10〜1月の達成度推移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D5E4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520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10月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840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AE6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防振: 100%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114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AE6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T6: 100%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60320" y="352044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D5E4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0" y="3520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11月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560320" y="3840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AE6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防振: 100%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60320" y="4114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7E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T6: 50%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352044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D5E4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3520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12月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63440" y="3840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AE6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防振: 100%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63440" y="4114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T6: —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66560" y="352044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D5E4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0" y="3520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1月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66560" y="3840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AE6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防振: 100%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66560" y="4114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AE6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T6: 100%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20040" cy="320040"/>
          </a:xfrm>
          <a:prstGeom prst="ellipse">
            <a:avLst/>
          </a:prstGeom>
          <a:solidFill>
            <a:srgbClr val="2980B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対策検討案（5項目）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8229600" cy="566928"/>
          </a:xfrm>
          <a:prstGeom prst="rect">
            <a:avLst>
              <a:gd name="adj" fmla="val 12903"/>
            </a:avLst>
          </a:prstGeom>
          <a:solidFill>
            <a:srgbClr val="E8F8F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54864" cy="56692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115568"/>
            <a:ext cx="347472" cy="34747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1155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05156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⑩箇所の湯じわ → デポをあてて湯流れ改善（暫定処置）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98080" y="1124712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0" y="1124712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暫定対応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664208"/>
            <a:ext cx="8229600" cy="566928"/>
          </a:xfrm>
          <a:prstGeom prst="rect">
            <a:avLst>
              <a:gd name="adj" fmla="val 12903"/>
            </a:avLst>
          </a:prstGeom>
          <a:solidFill>
            <a:srgbClr val="EAF6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1664208"/>
            <a:ext cx="54864" cy="566928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1773936"/>
            <a:ext cx="347472" cy="347472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7739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1709928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⑧⑨天側 足部の湯じわ・ブリスター → 駒割りによるガス抜きを検討中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498080" y="178308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2980B9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0" y="1783080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検討中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322576"/>
            <a:ext cx="8229600" cy="566928"/>
          </a:xfrm>
          <a:prstGeom prst="rect">
            <a:avLst>
              <a:gd name="adj" fmla="val 12903"/>
            </a:avLst>
          </a:prstGeom>
          <a:solidFill>
            <a:srgbClr val="E8F8F0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2322576"/>
            <a:ext cx="54864" cy="56692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2432304"/>
            <a:ext cx="347472" cy="34747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24323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2368296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メインゲート幅を広くする改善を実施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498080" y="2441448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27AE60"/>
          </a:solidFill>
          <a:ln/>
        </p:spPr>
      </p:sp>
      <p:sp>
        <p:nvSpPr>
          <p:cNvPr id="25" name="Text 23"/>
          <p:cNvSpPr/>
          <p:nvPr/>
        </p:nvSpPr>
        <p:spPr>
          <a:xfrm>
            <a:off x="7498080" y="2441448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実施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2980944"/>
            <a:ext cx="8229600" cy="566928"/>
          </a:xfrm>
          <a:prstGeom prst="rect">
            <a:avLst>
              <a:gd name="adj" fmla="val 12903"/>
            </a:avLst>
          </a:prstGeom>
          <a:solidFill>
            <a:srgbClr val="FEF9F0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" y="2980944"/>
            <a:ext cx="54864" cy="56692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8" name="Shape 26"/>
          <p:cNvSpPr/>
          <p:nvPr/>
        </p:nvSpPr>
        <p:spPr>
          <a:xfrm>
            <a:off x="640080" y="3090672"/>
            <a:ext cx="347472" cy="34747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0906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97280" y="3026664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溶体化温度を下げて硬度変化とブリスター変化のTRYを実施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498080" y="3099816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</p:sp>
      <p:sp>
        <p:nvSpPr>
          <p:cNvPr id="32" name="Text 30"/>
          <p:cNvSpPr/>
          <p:nvPr/>
        </p:nvSpPr>
        <p:spPr>
          <a:xfrm>
            <a:off x="7498080" y="3099816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3月末〜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3639312"/>
            <a:ext cx="8229600" cy="566928"/>
          </a:xfrm>
          <a:prstGeom prst="rect">
            <a:avLst>
              <a:gd name="adj" fmla="val 12903"/>
            </a:avLst>
          </a:prstGeom>
          <a:solidFill>
            <a:srgbClr val="FEF9F0"/>
          </a:solidFill>
          <a:ln/>
        </p:spPr>
      </p:sp>
      <p:sp>
        <p:nvSpPr>
          <p:cNvPr id="34" name="Shape 32"/>
          <p:cNvSpPr/>
          <p:nvPr/>
        </p:nvSpPr>
        <p:spPr>
          <a:xfrm>
            <a:off x="457200" y="3639312"/>
            <a:ext cx="54864" cy="56692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5" name="Shape 33"/>
          <p:cNvSpPr/>
          <p:nvPr/>
        </p:nvSpPr>
        <p:spPr>
          <a:xfrm>
            <a:off x="640080" y="3749040"/>
            <a:ext cx="347472" cy="34747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3749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97280" y="3685032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熱処理網の入れ方を再検討し、トライアルパターンを決めて実施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498080" y="3758184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</p:sp>
      <p:sp>
        <p:nvSpPr>
          <p:cNvPr id="39" name="Text 37"/>
          <p:cNvSpPr/>
          <p:nvPr/>
        </p:nvSpPr>
        <p:spPr>
          <a:xfrm>
            <a:off x="7498080" y="3758184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3月末〜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434340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74C3C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3/23〜3/25　改善確認トライ実施 → 対策【3】【4】【5】の効果を一括検証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20040" cy="320040"/>
          </a:xfrm>
          <a:prstGeom prst="ellipse">
            <a:avLst/>
          </a:prstGeom>
          <a:solidFill>
            <a:srgbClr val="2980B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改善確認トライ（3/23〜3/25）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検証項目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EAF6FF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硬度分布の確認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06040" y="141732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EAF6FF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14630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697480" y="173736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溶体化温度 2パターンテスト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（基準値 vs 下限側で比較）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41732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EAF6FF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4630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46320" y="173736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ブリスター発生有無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03720" y="141732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EAF6FF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03720" y="14630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④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995160" y="173736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変形量の計測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2651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担当・期限一覧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8229600" cy="4114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0175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タスク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0" y="30175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担当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0" y="3017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期限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429000"/>
            <a:ext cx="822960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4290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 溶体化温度（SNK基準）調査 → 課員へ配布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0" y="34290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粟野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0" y="34290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3/25 済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776472"/>
            <a:ext cx="82296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377647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 成分分析値の把握（Mg量確認・補充調整）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0" y="377647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山田 → 品管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0" y="37764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3/23 AM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123944"/>
            <a:ext cx="822960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412394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 UPPER 熱処理前（シム挟み N=30・変形確認）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0" y="412394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若山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58000" y="412394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3/28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4471416"/>
            <a:ext cx="82296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447141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 UPPER 熱処理後（対角シム変形確認）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0" y="447141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若山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858000" y="447141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4/1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4818888"/>
            <a:ext cx="822960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481888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④ LOWER NG返却品 段差測定（#1 #2 各10個）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0" y="481888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山北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858000" y="481888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4/4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5166360"/>
            <a:ext cx="82296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548640" y="51663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④ LOWER X線調査（同ロット）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572000" y="5166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山北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858000" y="51663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4/7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5513832"/>
            <a:ext cx="822960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8" name="Text 46"/>
          <p:cNvSpPr/>
          <p:nvPr/>
        </p:nvSpPr>
        <p:spPr>
          <a:xfrm>
            <a:off x="548640" y="55138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④ LOWER 新規打ち 熱処理後（#1 #2 各15個）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572000" y="551383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山北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858000" y="551383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4/11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57200" y="5861304"/>
            <a:ext cx="82296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548640" y="586130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⑤ 春近さんへの依頼（着座NG仕分け保管・発生数管理）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572000" y="586130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横山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858000" y="586130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4/15〜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20040" cy="320040"/>
          </a:xfrm>
          <a:prstGeom prst="ellipse">
            <a:avLst/>
          </a:prstGeom>
          <a:solidFill>
            <a:srgbClr val="2980B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まとめ・今後のスケジュール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FDEDEC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18872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188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3/23〜25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改善確認トライ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ゲート幅拡大品での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熱処理トライ実施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溶体化温度2パターン比較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105156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EAF6FF"/>
          </a:solidFill>
          <a:ln w="25400">
            <a:solidFill>
              <a:srgbClr val="D5E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80360" y="118872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2980B9"/>
          </a:solidFill>
          <a:ln/>
        </p:spPr>
      </p:sp>
      <p:sp>
        <p:nvSpPr>
          <p:cNvPr id="12" name="Text 10"/>
          <p:cNvSpPr/>
          <p:nvPr/>
        </p:nvSpPr>
        <p:spPr>
          <a:xfrm>
            <a:off x="2880360" y="1188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3/25〜4/1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97480" y="15544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UPPER 調査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97480" y="201168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熱処理前後の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シム挟み・変形確認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N=30で検証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05156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EAF6FF"/>
          </a:solidFill>
          <a:ln w="25400">
            <a:solidFill>
              <a:srgbClr val="D5E4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0" y="118872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2980B9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1188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4/4〜4/11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15544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LOWER 調査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201168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NG返却品の段差測定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X線調査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新規打ち熱処理後確認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03720" y="105156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EAF6FF"/>
          </a:solidFill>
          <a:ln w="25400">
            <a:solidFill>
              <a:srgbClr val="D5E4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78040" y="118872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2980B9"/>
          </a:solidFill>
          <a:ln/>
        </p:spPr>
      </p:sp>
      <p:sp>
        <p:nvSpPr>
          <p:cNvPr id="22" name="Text 20"/>
          <p:cNvSpPr/>
          <p:nvPr/>
        </p:nvSpPr>
        <p:spPr>
          <a:xfrm>
            <a:off x="7178040" y="1188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4/15〜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95160" y="15544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着座NG調査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95160" y="201168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春近さんへ依頼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NG仕分け保管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発生数の管理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6576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E8F8F0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703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ポイント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39776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・溶体化温度を下げても硬度が出るよう、事前にMg量を確認・補充してから鋳造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・熱処理前後の変形量・ブリスター発生有無を定量的に比較し、最適条件の妥当性を検証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・UPPER / LOWER それぞれで調査を進め、4月中に全体の方向性を確定させる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第57期 方針活動 No.4 初期流動不良低減</dc:subject>
  <dc:creator>技術部 技術課</dc:creator>
  <cp:lastModifiedBy>技術部 技術課</cp:lastModifiedBy>
  <cp:revision>1</cp:revision>
  <dcterms:created xsi:type="dcterms:W3CDTF">2026-03-24T07:09:49Z</dcterms:created>
  <dcterms:modified xsi:type="dcterms:W3CDTF">2026-03-24T07:09:49Z</dcterms:modified>
</cp:coreProperties>
</file>